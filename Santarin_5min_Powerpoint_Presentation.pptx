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13"/>
  </p:notesMasterIdLst>
  <p:sldIdLst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1BFB1F-23FC-9F36-30FA-DECD51CA641E}" name="Kaila Orsucci (TEKsystems, Inc.)" initials="KO(I" userId="S::v-korsucci@microsoft.com::e7aad994-0403-45c0-b7c8-0c969e213a38" providerId="AD"/>
  <p188:author id="{84FB8148-9464-6C57-92E8-788B128E693E}" name="Kirsten Ballweg" initials="KB" userId="S::kirstenb@microsoft.com::c47a99fc-9286-469c-b169-05c5a33df54a" providerId="AD"/>
  <p188:author id="{AB21A47C-7B25-CB16-8A25-0972AEFBA567}" name="Shawna Swanson" initials="SS" userId="S::shswanson@microsoft.com::586bed90-38fb-452d-bd30-6c7e2f9274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5600"/>
    <a:srgbClr val="63460D"/>
    <a:srgbClr val="DB8D18"/>
    <a:srgbClr val="FFFBF6"/>
    <a:srgbClr val="F1F1F1"/>
    <a:srgbClr val="DFD8CA"/>
    <a:srgbClr val="FFFFFF"/>
    <a:srgbClr val="B48F85"/>
    <a:srgbClr val="FFFBF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D13C0-B75C-25F0-B299-8724B55A662D}" v="8" dt="2024-07-16T18:35:16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 snapToObjects="1">
      <p:cViewPr varScale="1">
        <p:scale>
          <a:sx n="98" d="100"/>
          <a:sy n="98" d="100"/>
        </p:scale>
        <p:origin x="17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AE0A3-FC72-C943-8915-67B78CCBD2EB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EF4D5-177F-4345-931A-46460CD21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49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295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58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36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753C-24E1-4D59-9104-AE414159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AAF09-BC17-043C-9580-D05A1F66C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C08C4-7F9D-0B10-FF40-667A86F3A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5164-D411-C942-D6D0-BAA1C9724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302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AB6ED-1D09-87D0-1DDE-A8875110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2D44A-299D-6619-1ED8-2729796A1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7B584-EC20-DE01-CF2D-E2674C993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FAE31-F147-A9D8-C6EB-2DF249750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85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85FF-6989-158D-642B-C49774DD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FD2F2-9D9F-4C22-02C4-854ED1469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86B25-E00E-4B2D-9B09-2555F8DCA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3E596-C910-08DC-3121-CDB1CEA21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129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166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EF4D5-177F-4345-931A-46460CD21E0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3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{image_background}">
            <a:extLst>
              <a:ext uri="{FF2B5EF4-FFF2-40B4-BE49-F238E27FC236}">
                <a16:creationId xmlns:a16="http://schemas.microsoft.com/office/drawing/2014/main" id="{58B07D4C-2C86-724C-9979-D40DB323C3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0"/>
            <a:ext cx="9877425" cy="7772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CF731F-DBD7-8806-79E5-1AEC1891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562286"/>
            <a:ext cx="4997450" cy="93280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0356C42C-D8D4-6EA1-E02D-9923822DBC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1550" y="619125"/>
            <a:ext cx="3943352" cy="852719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2400" b="0" i="0" cap="none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871E90F-DB63-E19F-1B2F-4EE0BB448F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1550" y="1674135"/>
            <a:ext cx="4997450" cy="476249"/>
          </a:xfrm>
        </p:spPr>
        <p:txBody>
          <a:bodyPr lIns="0" tIns="0" rIns="0" bIns="0" anchor="b">
            <a:noAutofit/>
          </a:bodyPr>
          <a:lstStyle>
            <a:lvl1pPr>
              <a:spcBef>
                <a:spcPts val="0"/>
              </a:spcBef>
              <a:defRPr sz="1400" b="0" i="0" cap="none" baseline="0">
                <a:solidFill>
                  <a:srgbClr val="63460D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23652B2C-E63D-F5B2-DDFF-7971FC4481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49" y="3880878"/>
            <a:ext cx="4997451" cy="570128"/>
          </a:xfrm>
        </p:spPr>
        <p:txBody>
          <a:bodyPr lIns="0" tIns="0" rIns="0" bIns="0">
            <a:noAutofit/>
          </a:bodyPr>
          <a:lstStyle>
            <a:lvl1pPr>
              <a:spcBef>
                <a:spcPts val="0"/>
              </a:spcBef>
              <a:defRPr sz="1400" b="0" i="0" cap="none" baseline="0">
                <a:solidFill>
                  <a:srgbClr val="63460D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4549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547690"/>
            <a:ext cx="8872538" cy="19883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2738439"/>
            <a:ext cx="8872538" cy="4486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23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1028700" rtl="0" eaLnBrk="1" latinLnBrk="0" hangingPunct="1">
        <a:lnSpc>
          <a:spcPct val="85000"/>
        </a:lnSpc>
        <a:spcBef>
          <a:spcPct val="0"/>
        </a:spcBef>
        <a:buNone/>
        <a:defRPr sz="45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28700" rtl="0" eaLnBrk="1" latinLnBrk="0" hangingPunct="1">
        <a:lnSpc>
          <a:spcPct val="103000"/>
        </a:lnSpc>
        <a:spcBef>
          <a:spcPts val="1125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0" algn="ctr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Daytona" panose="020B0604030500040204" pitchFamily="34" charset="0"/>
          <a:ea typeface="+mn-ea"/>
          <a:cs typeface="+mn-cs"/>
        </a:defRPr>
      </a:lvl2pPr>
      <a:lvl3pPr marL="1028700" indent="0" algn="ctr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Daytona" panose="020B0604030500040204" pitchFamily="34" charset="0"/>
          <a:ea typeface="+mn-ea"/>
          <a:cs typeface="+mn-cs"/>
        </a:defRPr>
      </a:lvl3pPr>
      <a:lvl4pPr marL="1543050" indent="0" algn="ctr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Daytona" panose="020B0604030500040204" pitchFamily="34" charset="0"/>
          <a:ea typeface="+mn-ea"/>
          <a:cs typeface="+mn-cs"/>
        </a:defRPr>
      </a:lvl4pPr>
      <a:lvl5pPr marL="2057400" indent="0" algn="ctr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Daytona" panose="020B0604030500040204" pitchFamily="34" charset="0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0" pos="3168" userDrawn="1">
          <p15:clr>
            <a:srgbClr val="A4A3A4"/>
          </p15:clr>
        </p15:guide>
        <p15:guide id="51" orient="horz" pos="2448" userDrawn="1">
          <p15:clr>
            <a:srgbClr val="A4A3A4"/>
          </p15:clr>
        </p15:guide>
        <p15:guide id="52" pos="240" userDrawn="1">
          <p15:clr>
            <a:srgbClr val="F26B43"/>
          </p15:clr>
        </p15:guide>
        <p15:guide id="53" pos="493" userDrawn="1">
          <p15:clr>
            <a:srgbClr val="F26B43"/>
          </p15:clr>
        </p15:guide>
        <p15:guide id="54" pos="613" userDrawn="1">
          <p15:clr>
            <a:srgbClr val="F26B43"/>
          </p15:clr>
        </p15:guide>
        <p15:guide id="55" pos="867" userDrawn="1">
          <p15:clr>
            <a:srgbClr val="F26B43"/>
          </p15:clr>
        </p15:guide>
        <p15:guide id="56" pos="987" userDrawn="1">
          <p15:clr>
            <a:srgbClr val="F26B43"/>
          </p15:clr>
        </p15:guide>
        <p15:guide id="57" pos="1241" userDrawn="1">
          <p15:clr>
            <a:srgbClr val="F26B43"/>
          </p15:clr>
        </p15:guide>
        <p15:guide id="58" pos="1361" userDrawn="1">
          <p15:clr>
            <a:srgbClr val="F26B43"/>
          </p15:clr>
        </p15:guide>
        <p15:guide id="59" pos="1614" userDrawn="1">
          <p15:clr>
            <a:srgbClr val="F26B43"/>
          </p15:clr>
        </p15:guide>
        <p15:guide id="60" pos="1734" userDrawn="1">
          <p15:clr>
            <a:srgbClr val="F26B43"/>
          </p15:clr>
        </p15:guide>
        <p15:guide id="61" pos="1987" userDrawn="1">
          <p15:clr>
            <a:srgbClr val="F26B43"/>
          </p15:clr>
        </p15:guide>
        <p15:guide id="62" pos="2107" userDrawn="1">
          <p15:clr>
            <a:srgbClr val="F26B43"/>
          </p15:clr>
        </p15:guide>
        <p15:guide id="63" pos="2361" userDrawn="1">
          <p15:clr>
            <a:srgbClr val="F26B43"/>
          </p15:clr>
        </p15:guide>
        <p15:guide id="64" pos="2481" userDrawn="1">
          <p15:clr>
            <a:srgbClr val="F26B43"/>
          </p15:clr>
        </p15:guide>
        <p15:guide id="65" pos="2735" userDrawn="1">
          <p15:clr>
            <a:srgbClr val="F26B43"/>
          </p15:clr>
        </p15:guide>
        <p15:guide id="66" pos="2855" userDrawn="1">
          <p15:clr>
            <a:srgbClr val="F26B43"/>
          </p15:clr>
        </p15:guide>
        <p15:guide id="67" pos="3108" userDrawn="1">
          <p15:clr>
            <a:srgbClr val="F26B43"/>
          </p15:clr>
        </p15:guide>
        <p15:guide id="68" pos="3228" userDrawn="1">
          <p15:clr>
            <a:srgbClr val="F26B43"/>
          </p15:clr>
        </p15:guide>
        <p15:guide id="69" pos="3481" userDrawn="1">
          <p15:clr>
            <a:srgbClr val="F26B43"/>
          </p15:clr>
        </p15:guide>
        <p15:guide id="70" pos="3601" userDrawn="1">
          <p15:clr>
            <a:srgbClr val="F26B43"/>
          </p15:clr>
        </p15:guide>
        <p15:guide id="71" pos="3855" userDrawn="1">
          <p15:clr>
            <a:srgbClr val="F26B43"/>
          </p15:clr>
        </p15:guide>
        <p15:guide id="72" pos="3975" userDrawn="1">
          <p15:clr>
            <a:srgbClr val="F26B43"/>
          </p15:clr>
        </p15:guide>
        <p15:guide id="73" pos="4229" userDrawn="1">
          <p15:clr>
            <a:srgbClr val="F26B43"/>
          </p15:clr>
        </p15:guide>
        <p15:guide id="74" pos="4349" userDrawn="1">
          <p15:clr>
            <a:srgbClr val="F26B43"/>
          </p15:clr>
        </p15:guide>
        <p15:guide id="75" pos="4602" userDrawn="1">
          <p15:clr>
            <a:srgbClr val="F26B43"/>
          </p15:clr>
        </p15:guide>
        <p15:guide id="76" pos="4722" userDrawn="1">
          <p15:clr>
            <a:srgbClr val="F26B43"/>
          </p15:clr>
        </p15:guide>
        <p15:guide id="77" pos="4975" userDrawn="1">
          <p15:clr>
            <a:srgbClr val="F26B43"/>
          </p15:clr>
        </p15:guide>
        <p15:guide id="78" pos="5095" userDrawn="1">
          <p15:clr>
            <a:srgbClr val="F26B43"/>
          </p15:clr>
        </p15:guide>
        <p15:guide id="79" pos="5349" userDrawn="1">
          <p15:clr>
            <a:srgbClr val="F26B43"/>
          </p15:clr>
        </p15:guide>
        <p15:guide id="80" pos="5469" userDrawn="1">
          <p15:clr>
            <a:srgbClr val="F26B43"/>
          </p15:clr>
        </p15:guide>
        <p15:guide id="81" pos="5723" userDrawn="1">
          <p15:clr>
            <a:srgbClr val="F26B43"/>
          </p15:clr>
        </p15:guide>
        <p15:guide id="82" pos="5843" userDrawn="1">
          <p15:clr>
            <a:srgbClr val="F26B43"/>
          </p15:clr>
        </p15:guide>
        <p15:guide id="83" pos="6096" userDrawn="1">
          <p15:clr>
            <a:srgbClr val="F26B43"/>
          </p15:clr>
        </p15:guide>
        <p15:guide id="84" orient="horz" pos="240" userDrawn="1">
          <p15:clr>
            <a:srgbClr val="F26B43"/>
          </p15:clr>
        </p15:guide>
        <p15:guide id="85" orient="horz" pos="687" userDrawn="1">
          <p15:clr>
            <a:srgbClr val="F26B43"/>
          </p15:clr>
        </p15:guide>
        <p15:guide id="86" orient="horz" pos="807" userDrawn="1">
          <p15:clr>
            <a:srgbClr val="F26B43"/>
          </p15:clr>
        </p15:guide>
        <p15:guide id="87" orient="horz" pos="1254" userDrawn="1">
          <p15:clr>
            <a:srgbClr val="F26B43"/>
          </p15:clr>
        </p15:guide>
        <p15:guide id="88" orient="horz" pos="1374" userDrawn="1">
          <p15:clr>
            <a:srgbClr val="F26B43"/>
          </p15:clr>
        </p15:guide>
        <p15:guide id="89" orient="horz" pos="1821" userDrawn="1">
          <p15:clr>
            <a:srgbClr val="F26B43"/>
          </p15:clr>
        </p15:guide>
        <p15:guide id="90" orient="horz" pos="1941" userDrawn="1">
          <p15:clr>
            <a:srgbClr val="F26B43"/>
          </p15:clr>
        </p15:guide>
        <p15:guide id="91" orient="horz" pos="2388" userDrawn="1">
          <p15:clr>
            <a:srgbClr val="F26B43"/>
          </p15:clr>
        </p15:guide>
        <p15:guide id="92" orient="horz" pos="2508" userDrawn="1">
          <p15:clr>
            <a:srgbClr val="F26B43"/>
          </p15:clr>
        </p15:guide>
        <p15:guide id="93" orient="horz" pos="2955" userDrawn="1">
          <p15:clr>
            <a:srgbClr val="F26B43"/>
          </p15:clr>
        </p15:guide>
        <p15:guide id="94" orient="horz" pos="3075" userDrawn="1">
          <p15:clr>
            <a:srgbClr val="F26B43"/>
          </p15:clr>
        </p15:guide>
        <p15:guide id="95" orient="horz" pos="3522" userDrawn="1">
          <p15:clr>
            <a:srgbClr val="F26B43"/>
          </p15:clr>
        </p15:guide>
        <p15:guide id="96" orient="horz" pos="3642" userDrawn="1">
          <p15:clr>
            <a:srgbClr val="F26B43"/>
          </p15:clr>
        </p15:guide>
        <p15:guide id="97" orient="horz" pos="4089" userDrawn="1">
          <p15:clr>
            <a:srgbClr val="F26B43"/>
          </p15:clr>
        </p15:guide>
        <p15:guide id="98" orient="horz" pos="4209" userDrawn="1">
          <p15:clr>
            <a:srgbClr val="F26B43"/>
          </p15:clr>
        </p15:guide>
        <p15:guide id="99" orient="horz" pos="46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nziesantarin/Capstone_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C16B01CF-620C-0921-D894-3724E5E2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571" y="1610712"/>
            <a:ext cx="4442931" cy="1332379"/>
          </a:xfrm>
        </p:spPr>
        <p:txBody>
          <a:bodyPr/>
          <a:lstStyle/>
          <a:p>
            <a:pPr algn="ctr"/>
            <a:r>
              <a:rPr lang="en-US" b="1" dirty="0"/>
              <a:t>EmporiUm Sales Territory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577F6-0CD0-7248-C6F4-9B79FE08AF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7569" y="3958976"/>
            <a:ext cx="1871267" cy="442411"/>
          </a:xfrm>
        </p:spPr>
        <p:txBody>
          <a:bodyPr/>
          <a:lstStyle/>
          <a:p>
            <a:r>
              <a:rPr lang="en-US" sz="2800" b="1" dirty="0"/>
              <a:t>Territories: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47459-84E9-2993-18FF-0986AD0EB8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25019" y="2938650"/>
            <a:ext cx="3343596" cy="325103"/>
          </a:xfrm>
        </p:spPr>
        <p:txBody>
          <a:bodyPr/>
          <a:lstStyle/>
          <a:p>
            <a:r>
              <a:rPr lang="en-US" sz="1500" dirty="0"/>
              <a:t>Analysis by: Marenza Santarin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A1EC7-312D-CBCF-A197-47DFF5D21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5436" y="4598622"/>
            <a:ext cx="2935200" cy="1835892"/>
          </a:xfrm>
        </p:spPr>
        <p:txBody>
          <a:bodyPr/>
          <a:lstStyle/>
          <a:p>
            <a:r>
              <a:rPr lang="en-US" sz="1600" dirty="0"/>
              <a:t>Colorado (West Region)</a:t>
            </a:r>
          </a:p>
          <a:p>
            <a:r>
              <a:rPr lang="en-US" sz="1600" dirty="0"/>
              <a:t>Manager: Jim Heck</a:t>
            </a:r>
          </a:p>
          <a:p>
            <a:endParaRPr lang="en-US" sz="1600" dirty="0"/>
          </a:p>
          <a:p>
            <a:r>
              <a:rPr lang="en-US" sz="1600" dirty="0"/>
              <a:t>New Jersey (Northeast Region)</a:t>
            </a:r>
          </a:p>
          <a:p>
            <a:r>
              <a:rPr lang="en-US" sz="1600" dirty="0"/>
              <a:t>Manager: Miami Vue</a:t>
            </a:r>
          </a:p>
        </p:txBody>
      </p:sp>
      <p:pic>
        <p:nvPicPr>
          <p:cNvPr id="22" name="Graphic 21" descr="Marker with solid fill">
            <a:extLst>
              <a:ext uri="{FF2B5EF4-FFF2-40B4-BE49-F238E27FC236}">
                <a16:creationId xmlns:a16="http://schemas.microsoft.com/office/drawing/2014/main" id="{12A99122-B830-3D63-026D-046202FDD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018" y="5398481"/>
            <a:ext cx="325103" cy="325103"/>
          </a:xfrm>
          <a:prstGeom prst="rect">
            <a:avLst/>
          </a:prstGeom>
        </p:spPr>
      </p:pic>
      <p:pic>
        <p:nvPicPr>
          <p:cNvPr id="23" name="Graphic 22" descr="Marker with solid fill">
            <a:extLst>
              <a:ext uri="{FF2B5EF4-FFF2-40B4-BE49-F238E27FC236}">
                <a16:creationId xmlns:a16="http://schemas.microsoft.com/office/drawing/2014/main" id="{186DB2FD-6843-3CDB-BF83-774A2C76A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019" y="4667219"/>
            <a:ext cx="325103" cy="32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2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05C5-89F2-CCB8-68A6-2BEB5F22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83" y="688772"/>
            <a:ext cx="5415149" cy="736269"/>
          </a:xfrm>
        </p:spPr>
        <p:txBody>
          <a:bodyPr/>
          <a:lstStyle/>
          <a:p>
            <a:pPr algn="ctr"/>
            <a:r>
              <a:rPr lang="en-US" sz="3600" b="1" dirty="0"/>
              <a:t>Core Marketing Questions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5A3E1-580A-B7C1-8566-1AA4603C66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2825" y="1555297"/>
            <a:ext cx="5118264" cy="3746665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Which territory performed stronger over time?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Which stores and customers drove sales?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Which product categories generated the most revenue?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Where should marketing focus next quarter?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B46FCE-C1D0-CA0B-1062-5AEEED24B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59236"/>
              </p:ext>
            </p:extLst>
          </p:nvPr>
        </p:nvGraphicFramePr>
        <p:xfrm>
          <a:off x="492825" y="5836348"/>
          <a:ext cx="7119256" cy="1247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79814">
                  <a:extLst>
                    <a:ext uri="{9D8B030D-6E8A-4147-A177-3AD203B41FA5}">
                      <a16:colId xmlns:a16="http://schemas.microsoft.com/office/drawing/2014/main" val="1931821963"/>
                    </a:ext>
                  </a:extLst>
                </a:gridCol>
                <a:gridCol w="1779814">
                  <a:extLst>
                    <a:ext uri="{9D8B030D-6E8A-4147-A177-3AD203B41FA5}">
                      <a16:colId xmlns:a16="http://schemas.microsoft.com/office/drawing/2014/main" val="1198528766"/>
                    </a:ext>
                  </a:extLst>
                </a:gridCol>
                <a:gridCol w="1779814">
                  <a:extLst>
                    <a:ext uri="{9D8B030D-6E8A-4147-A177-3AD203B41FA5}">
                      <a16:colId xmlns:a16="http://schemas.microsoft.com/office/drawing/2014/main" val="3152056175"/>
                    </a:ext>
                  </a:extLst>
                </a:gridCol>
                <a:gridCol w="1779814">
                  <a:extLst>
                    <a:ext uri="{9D8B030D-6E8A-4147-A177-3AD203B41FA5}">
                      <a16:colId xmlns:a16="http://schemas.microsoft.com/office/drawing/2014/main" val="3483465233"/>
                    </a:ext>
                  </a:extLst>
                </a:gridCol>
              </a:tblGrid>
              <a:tr h="415760">
                <a:tc>
                  <a:txBody>
                    <a:bodyPr/>
                    <a:lstStyle/>
                    <a:p>
                      <a:r>
                        <a:rPr lang="en-US" sz="1800" dirty="0"/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50" dirty="0"/>
                        <a:t>Stores Analyzed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073632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Colorado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Jim 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917586"/>
                  </a:ext>
                </a:extLst>
              </a:tr>
              <a:tr h="41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New Jersey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Miami 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Northeast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63460D"/>
                          </a:solidFill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283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026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E34C-5EAF-E005-774C-9175B58D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69" y="474792"/>
            <a:ext cx="4681105" cy="932804"/>
          </a:xfrm>
        </p:spPr>
        <p:txBody>
          <a:bodyPr/>
          <a:lstStyle/>
          <a:p>
            <a:r>
              <a:rPr lang="en-US" sz="3600" b="1" dirty="0"/>
              <a:t>Monthly Revenue Trend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549E8-8EFF-B9F6-99CD-4609164D04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9669" y="1407596"/>
            <a:ext cx="4681105" cy="56092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Which territory performed stronger over time?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FB875F-04C6-C029-BA69-A5688B532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35" y="2226033"/>
            <a:ext cx="9322130" cy="4772272"/>
          </a:xfrm>
          <a:prstGeom prst="rect">
            <a:avLst/>
          </a:prstGeom>
          <a:ln w="38100">
            <a:solidFill>
              <a:srgbClr val="BC5600"/>
            </a:solidFill>
          </a:ln>
        </p:spPr>
      </p:pic>
    </p:spTree>
    <p:extLst>
      <p:ext uri="{BB962C8B-B14F-4D97-AF65-F5344CB8AC3E}">
        <p14:creationId xmlns:p14="http://schemas.microsoft.com/office/powerpoint/2010/main" val="180307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E883E-C97F-DA52-BB60-A46FCAF3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EC62-8A7B-3AB9-9D3F-70DE5931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69" y="474792"/>
            <a:ext cx="4681105" cy="932804"/>
          </a:xfrm>
        </p:spPr>
        <p:txBody>
          <a:bodyPr/>
          <a:lstStyle/>
          <a:p>
            <a:r>
              <a:rPr lang="en-US" sz="3600" b="1" dirty="0"/>
              <a:t>Top-performing Stores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8E53FF-262B-D67D-11C0-5CD6D9C7A9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9669" y="1407596"/>
            <a:ext cx="4681105" cy="56092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Which stores are driving territory performance in each territory?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CCE493-58BF-8294-477F-3A4C3A599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886" y="2226033"/>
            <a:ext cx="9345880" cy="4772272"/>
          </a:xfrm>
          <a:prstGeom prst="rect">
            <a:avLst/>
          </a:prstGeom>
          <a:ln w="38100">
            <a:solidFill>
              <a:srgbClr val="BC5600"/>
            </a:solidFill>
          </a:ln>
        </p:spPr>
      </p:pic>
    </p:spTree>
    <p:extLst>
      <p:ext uri="{BB962C8B-B14F-4D97-AF65-F5344CB8AC3E}">
        <p14:creationId xmlns:p14="http://schemas.microsoft.com/office/powerpoint/2010/main" val="389613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F401-C47D-6A1E-FC2D-B2093DD7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4816-EE49-43B8-2227-EB03CE73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69" y="474792"/>
            <a:ext cx="4681105" cy="932804"/>
          </a:xfrm>
        </p:spPr>
        <p:txBody>
          <a:bodyPr/>
          <a:lstStyle/>
          <a:p>
            <a:r>
              <a:rPr lang="en-US" sz="3600" b="1" dirty="0"/>
              <a:t>Top Customers Chart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909F4-2FE9-D174-2CB7-3C3F0ABE3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9669" y="1407596"/>
            <a:ext cx="4681105" cy="56092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Who are the most valuable customers?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9DBE65-9337-E875-06FE-88FF3AA61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262" y="2226033"/>
            <a:ext cx="9215252" cy="4772272"/>
          </a:xfrm>
          <a:prstGeom prst="rect">
            <a:avLst/>
          </a:prstGeom>
          <a:ln w="38100">
            <a:solidFill>
              <a:srgbClr val="BC5600"/>
            </a:solidFill>
          </a:ln>
        </p:spPr>
      </p:pic>
    </p:spTree>
    <p:extLst>
      <p:ext uri="{BB962C8B-B14F-4D97-AF65-F5344CB8AC3E}">
        <p14:creationId xmlns:p14="http://schemas.microsoft.com/office/powerpoint/2010/main" val="367192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30B7-D7FA-8E75-F295-965579E2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8F30-2390-20A2-05D8-3D0901C3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5" y="474792"/>
            <a:ext cx="5201392" cy="932804"/>
          </a:xfrm>
        </p:spPr>
        <p:txBody>
          <a:bodyPr/>
          <a:lstStyle/>
          <a:p>
            <a:r>
              <a:rPr lang="en-US" sz="3600" b="1" dirty="0"/>
              <a:t>Product Category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049E6-8CED-45B6-7372-65C1181A54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9669" y="1407596"/>
            <a:ext cx="4681105" cy="56092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What products are driving sales?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4B082-B2CD-143C-0612-6D7D1E3E1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262" y="2325794"/>
            <a:ext cx="9215252" cy="4572749"/>
          </a:xfrm>
          <a:prstGeom prst="rect">
            <a:avLst/>
          </a:prstGeom>
          <a:ln w="38100">
            <a:solidFill>
              <a:srgbClr val="BC5600"/>
            </a:solidFill>
          </a:ln>
        </p:spPr>
      </p:pic>
    </p:spTree>
    <p:extLst>
      <p:ext uri="{BB962C8B-B14F-4D97-AF65-F5344CB8AC3E}">
        <p14:creationId xmlns:p14="http://schemas.microsoft.com/office/powerpoint/2010/main" val="118084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D87B-046D-D9A6-A6A7-8E28FAF80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541" y="437744"/>
            <a:ext cx="4997450" cy="750929"/>
          </a:xfrm>
        </p:spPr>
        <p:txBody>
          <a:bodyPr/>
          <a:lstStyle/>
          <a:p>
            <a:r>
              <a:rPr lang="en-US" b="1" dirty="0"/>
              <a:t>Recommendation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B8311-5D74-EE89-7ED4-F9A4D64DA6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801" y="1315132"/>
            <a:ext cx="5714259" cy="566149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/>
              <a:t>Focus: Technology &amp; Accessories + Textbooks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Highest revenue and transaction volume across both territories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Colorado: Protect &amp; Grow (Denver, Greeley)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Build an ecosystem: pair tech products with stationery, tote bags, and collectibles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Cross-sell study bundles during textbook purchase (back-to-school season)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New Jersey: Retain &amp; Re-engage (Newark, Trenton)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Launch personalized "we miss you" emails, rewards, and loyalty discounts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Drive repeat visits through targeted promotions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Lower-Performing Categories: Test Small Promotions</a:t>
            </a:r>
            <a:endParaRPr lang="en-US" sz="18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Books (General), Stationery &amp; Supplies, Apparel &amp; Merchandise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"Buy more, save more" deals or semester bundles paired with top sellers</a:t>
            </a:r>
          </a:p>
          <a:p>
            <a:pPr>
              <a:lnSpc>
                <a:spcPct val="100000"/>
              </a:lnSpc>
            </a:pPr>
            <a:r>
              <a:rPr lang="en-US" sz="1800" b="1" dirty="0"/>
              <a:t>Overall Goal:</a:t>
            </a:r>
            <a:endParaRPr lang="en-US" sz="18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Maximize top-category revenue + test targeted promotions to grow New Jersey</a:t>
            </a:r>
          </a:p>
        </p:txBody>
      </p:sp>
    </p:spTree>
    <p:extLst>
      <p:ext uri="{BB962C8B-B14F-4D97-AF65-F5344CB8AC3E}">
        <p14:creationId xmlns:p14="http://schemas.microsoft.com/office/powerpoint/2010/main" val="87581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B3F79-793A-CC93-1B52-3B6387A8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539" y="757236"/>
            <a:ext cx="4997450" cy="932804"/>
          </a:xfrm>
        </p:spPr>
        <p:txBody>
          <a:bodyPr/>
          <a:lstStyle/>
          <a:p>
            <a:r>
              <a:rPr lang="en-US" dirty="0"/>
              <a:t>GitHub Repository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57AFD-FA93-4CD5-6019-57D68FEBC9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538" y="1537117"/>
            <a:ext cx="4997451" cy="570128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https://github.com/renziesantarin/Capstone_2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0A341-AF7F-73E4-1807-646093847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39" y="1954322"/>
            <a:ext cx="4615114" cy="5169866"/>
          </a:xfrm>
          <a:prstGeom prst="rect">
            <a:avLst/>
          </a:prstGeom>
          <a:ln w="38100">
            <a:solidFill>
              <a:srgbClr val="BC5600"/>
            </a:solidFill>
          </a:ln>
        </p:spPr>
      </p:pic>
    </p:spTree>
    <p:extLst>
      <p:ext uri="{BB962C8B-B14F-4D97-AF65-F5344CB8AC3E}">
        <p14:creationId xmlns:p14="http://schemas.microsoft.com/office/powerpoint/2010/main" val="1180936999"/>
      </p:ext>
    </p:extLst>
  </p:cSld>
  <p:clrMapOvr>
    <a:masterClrMapping/>
  </p:clrMapOvr>
</p:sld>
</file>

<file path=ppt/theme/theme1.xml><?xml version="1.0" encoding="utf-8"?>
<a:theme xmlns:a="http://schemas.openxmlformats.org/drawingml/2006/main" name="Certificate">
  <a:themeElements>
    <a:clrScheme name="BP_Certificate_2_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FBF6"/>
      </a:accent1>
      <a:accent2>
        <a:srgbClr val="BC5600"/>
      </a:accent2>
      <a:accent3>
        <a:srgbClr val="DB8D18"/>
      </a:accent3>
      <a:accent4>
        <a:srgbClr val="595926"/>
      </a:accent4>
      <a:accent5>
        <a:srgbClr val="FF6969"/>
      </a:accent5>
      <a:accent6>
        <a:srgbClr val="987D9A"/>
      </a:accent6>
      <a:hlink>
        <a:srgbClr val="0563C1"/>
      </a:hlink>
      <a:folHlink>
        <a:srgbClr val="954F72"/>
      </a:folHlink>
    </a:clrScheme>
    <a:fontScheme name="Custom 228">
      <a:majorFont>
        <a:latin typeface="Goudy Old Style"/>
        <a:ea typeface=""/>
        <a:cs typeface=""/>
      </a:majorFont>
      <a:minorFont>
        <a:latin typeface="Trade Gothic Nex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P_Certificate_2_13_win32_SD_v2" id="{3604BA30-5235-41BE-BA68-A6D5CAE6188E}" vid="{F3E48F36-18F4-4910-A0C9-FE204DE554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0e9df3-be65-4c73-a93b-d1236ebd677e" xsi:nil="true"/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4B7354-BAA7-42EF-9AFB-B58624E1F800}">
  <ds:schemaRefs>
    <ds:schemaRef ds:uri="f95f5480-f1d0-4eeb-b337-72b9183c9241"/>
    <ds:schemaRef ds:uri="http://purl.org/dc/elements/1.1/"/>
    <ds:schemaRef ds:uri="http://schemas.microsoft.com/office/2006/documentManagement/types"/>
    <ds:schemaRef ds:uri="http://schemas.microsoft.com/sharepoint/v3"/>
    <ds:schemaRef ds:uri="http://purl.org/dc/dcmitype/"/>
    <ds:schemaRef ds:uri="http://www.w3.org/XML/1998/namespace"/>
    <ds:schemaRef ds:uri="http://purl.org/dc/terms/"/>
    <ds:schemaRef ds:uri="http://schemas.microsoft.com/office/2006/metadata/properties"/>
    <ds:schemaRef ds:uri="810d3b2f-b9cb-46a4-ba48-ad1eb7c8e550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9494E66-1906-430C-A080-047BB4EDB5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C3D7F3-1A30-4CFC-8F8B-21E6921A5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{3D3A1B77-F842-44A8-A1EE-46167FB53112}fdbacb65-9cea-48b2-a7d7-b126229ec03e-TFf5033184-a889-43f5-a67a-cb820134c17e_win32</Template>
  <TotalTime>99</TotalTime>
  <Words>268</Words>
  <Application>Microsoft Office PowerPoint</Application>
  <PresentationFormat>Custom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Daytona</vt:lpstr>
      <vt:lpstr>Goudy Old Style</vt:lpstr>
      <vt:lpstr>Trade Gothic Next</vt:lpstr>
      <vt:lpstr>Wingdings</vt:lpstr>
      <vt:lpstr>Certificate</vt:lpstr>
      <vt:lpstr>EmporiUm Sales Territory Analysis</vt:lpstr>
      <vt:lpstr>Core Marketing Questions</vt:lpstr>
      <vt:lpstr>Monthly Revenue Trend</vt:lpstr>
      <vt:lpstr>Top-performing Stores</vt:lpstr>
      <vt:lpstr>Top Customers Chart</vt:lpstr>
      <vt:lpstr>Product Category Analysis</vt:lpstr>
      <vt:lpstr>Recommendation</vt:lpstr>
      <vt:lpstr>GitHub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marenza santarin</dc:creator>
  <cp:lastModifiedBy>marenza santarin</cp:lastModifiedBy>
  <cp:revision>5</cp:revision>
  <dcterms:created xsi:type="dcterms:W3CDTF">2026-05-27T17:31:30Z</dcterms:created>
  <dcterms:modified xsi:type="dcterms:W3CDTF">2026-05-28T18:18:19Z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2877300</vt:r8>
  </property>
  <property fmtid="{D5CDD505-2E9C-101B-9397-08002B2CF9AE}" pid="5" name="xd_Signature">
    <vt:bool>false</vt:bool>
  </property>
  <property fmtid="{D5CDD505-2E9C-101B-9397-08002B2CF9AE}" pid="6" name="Image">
    <vt:lpwstr>, </vt:lpwstr>
  </property>
  <property fmtid="{D5CDD505-2E9C-101B-9397-08002B2CF9AE}" pid="7" name="xd_ProgID">
    <vt:lpwstr/>
  </property>
  <property fmtid="{D5CDD505-2E9C-101B-9397-08002B2CF9AE}" pid="8" name="_ExtendedDescription">
    <vt:lpwstr/>
  </property>
  <property fmtid="{D5CDD505-2E9C-101B-9397-08002B2CF9AE}" pid="9" name="Background">
    <vt:bool>false</vt:bool>
  </property>
  <property fmtid="{D5CDD505-2E9C-101B-9397-08002B2CF9AE}" pid="10" name="TriggerFlowInfo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